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9601200" cy="3200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6400" b="1">
                <a:solidFill>
                  <a:srgbClr val="10B981"/>
                </a:solidFill>
                <a:latin typeface="Segoe UI"/>
              </a:defRPr>
            </a:pPr>
            <a:r>
              <a:t>JANSAARTHI</a:t>
            </a:r>
          </a:p>
          <a:p>
            <a:pPr>
              <a:spcBef>
                <a:spcPts val="1000"/>
              </a:spcBef>
              <a:defRPr sz="2800" b="1">
                <a:solidFill>
                  <a:srgbClr val="FFFFFF"/>
                </a:solidFill>
                <a:latin typeface="Segoe UI"/>
              </a:defRPr>
            </a:pPr>
            <a:r>
              <a:t>Goal-Oriented Administrative Compliance Platform</a:t>
            </a:r>
          </a:p>
          <a:p>
            <a:pPr>
              <a:spcBef>
                <a:spcPts val="2000"/>
              </a:spcBef>
              <a:defRPr sz="1800">
                <a:solidFill>
                  <a:srgbClr val="A1A1AA"/>
                </a:solidFill>
                <a:latin typeface="Segoe UI"/>
              </a:defRPr>
            </a:pPr>
            <a:r>
              <a:t>Hybrid Knowledge Base + LLM-Powered Topological DAG Timeline</a:t>
            </a:r>
          </a:p>
          <a:p>
            <a:pPr>
              <a:spcBef>
                <a:spcPts val="1500"/>
              </a:spcBef>
              <a:defRPr sz="1600" b="1">
                <a:solidFill>
                  <a:srgbClr val="10B981"/>
                </a:solidFill>
                <a:latin typeface="Segoe UI"/>
              </a:defRPr>
            </a:pPr>
            <a:r>
              <a:t>Live Prototype Link: https://jan-saarthi.vercel.app/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1. Problem Statement: Compliance Labyrinth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Navigating Municipal &amp; Federal Certifications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Fragmented Regulation: Citizens must obtain 10+ certificates (FSSAI, GST, Trade, Shop Act, Fire NOC) across different local offices.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Hidden Topological Dependencies: Certain approvals depend strictly on others (e.g. FSSAI needs a Current Account, which needs a PAN Card). Submitting in the wrong sequence leads to expired timelines.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High Failure Rates: Up to 40% of small business applications face delays or stalls due to zoning violations or paper mismatches.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The Cost of Non-Compliance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Time Inflation: Average of 30-45 extra days wasted per setup.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Resource Leakage: Financial overhead for agents, brokers, or correction fees.</a:t>
            </a:r>
          </a:p>
          <a:p>
            <a:pPr>
              <a:spcBef>
                <a:spcPts val="1500"/>
              </a:spcBef>
              <a:defRPr sz="1500">
                <a:solidFill>
                  <a:srgbClr val="A1A1AA"/>
                </a:solidFill>
                <a:latin typeface="Segoe UI"/>
              </a:defRPr>
            </a:pPr>
            <a:r>
              <a:t>•  Zoning Stalls: Leasing property in locations legally prohibited from specific business categories (e.g. food units, chemical storage).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2. Solution Overview: Smart Administrative Planner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01: Structured Knowledge Base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High-Fidelity expert rules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Built-in, verified templates mapped to specific domains (e.g., bakeries, pharmacies, salons) ensuring absolute accuracy of municipal licensing policies.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02: LLM Semantic Planner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Powered by Gemini Pro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Dynamic step generator mapping any arbitrary user request (e.g. Aadhaar updates) into a structured compliance path in a single-roundtrip API call.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046720" y="1645920"/>
            <a:ext cx="32918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2926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0B981"/>
                </a:solidFill>
                <a:latin typeface="Segoe UI"/>
              </a:defRPr>
            </a:pPr>
            <a:r>
              <a:t>Pillar 03: Interactive Timeline DAG</a:t>
            </a:r>
          </a:p>
          <a:p>
            <a:pPr>
              <a:spcBef>
                <a:spcPts val="500"/>
              </a:spcBef>
              <a:defRPr sz="1400" i="1">
                <a:solidFill>
                  <a:srgbClr val="FFFFFF"/>
                </a:solidFill>
                <a:latin typeface="Segoe UI"/>
              </a:defRPr>
            </a:pPr>
            <a:r>
              <a:t>State-driven execution</a:t>
            </a:r>
          </a:p>
          <a:p>
            <a:pPr>
              <a:spcBef>
                <a:spcPts val="1500"/>
              </a:spcBef>
              <a:defRPr sz="1400">
                <a:solidFill>
                  <a:srgbClr val="A1A1AA"/>
                </a:solidFill>
                <a:latin typeface="Segoe UI"/>
              </a:defRPr>
            </a:pPr>
            <a:r>
              <a:t>Milestones locked and unlocked dynamically. Checking off document requirements resolves parent nodes and propagates changes downstream.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3. Product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Frontend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React &amp; Vite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Tailwind CSS styling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Framer Motion animations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Dynamic state persistence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High legibility dark theme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38328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2044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Backend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Flask REST API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Modular blueprint architecture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DAG validation routing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SQLAlchemy ORM integration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Robust transaction logger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Database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Postgres / SQLite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Relational schemas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Journey tracking tables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Cascading step dependencies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Dynamic schema fallback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0" y="1645920"/>
            <a:ext cx="237744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23960" y="1828800"/>
            <a:ext cx="210312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  <a:latin typeface="Segoe UI"/>
              </a:defRPr>
            </a:pPr>
            <a:r>
              <a:t>AI Reasoning</a:t>
            </a:r>
          </a:p>
          <a:p>
            <a:pPr>
              <a:spcBef>
                <a:spcPts val="5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Gemini Developer API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gemini-flash-latest model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Unified prompt engineering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Structured JSON output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• Instant fail-safe fallback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4. Key Screenshots: Visual Interface</a:t>
            </a:r>
          </a:p>
        </p:txBody>
      </p:sp>
      <p:pic>
        <p:nvPicPr>
          <p:cNvPr id="4" name="Picture 3" descr="jansaarthi_dashboard_mockup_17841063436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548640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3680" y="164592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Platform UI Highlights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Clean Dark Mode Dashboard: Maximizes visual structure and focus using carefully chosen, high-legibility standard Tailwind zinc shades.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Topological Milestones: Clear visual icons representing PENDING (yellow circle), LOCKED (lock pad), and COMPLETED (green check) nodes.</a:t>
            </a:r>
          </a:p>
          <a:p>
            <a:pPr>
              <a:spcBef>
                <a:spcPts val="1500"/>
              </a:spcBef>
              <a:defRPr sz="1500">
                <a:solidFill>
                  <a:srgbClr val="FFFFFF"/>
                </a:solidFill>
                <a:latin typeface="Segoe UI"/>
              </a:defRPr>
            </a:pPr>
            <a:r>
              <a:t>•  AI Chat Widget: Context-sensitive floating card rendered in a gorgeous matching emerald-tinted color scheme.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5. UI/UX Prototype: Interactive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01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Submit Goal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User submits plain-language request (e.g. 'I want to renew Aadhaar').</a:t>
            </a:r>
          </a:p>
        </p:txBody>
      </p:sp>
      <p:sp>
        <p:nvSpPr>
          <p:cNvPr id="6" name="Can 5"/>
          <p:cNvSpPr/>
          <p:nvPr/>
        </p:nvSpPr>
        <p:spPr>
          <a:xfrm>
            <a:off x="31546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4747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02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Dynamic DAG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Vite loader handles transition. Platform prints live timeline graph.</a:t>
            </a:r>
          </a:p>
        </p:txBody>
      </p:sp>
      <p:sp>
        <p:nvSpPr>
          <p:cNvPr id="9" name="Can 8"/>
          <p:cNvSpPr/>
          <p:nvPr/>
        </p:nvSpPr>
        <p:spPr>
          <a:xfrm>
            <a:off x="58978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03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Interactive Check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Checking requirements triggers database update to unlock next step.</a:t>
            </a:r>
          </a:p>
        </p:txBody>
      </p:sp>
      <p:sp>
        <p:nvSpPr>
          <p:cNvPr id="12" name="Can 11"/>
          <p:cNvSpPr/>
          <p:nvPr/>
        </p:nvSpPr>
        <p:spPr>
          <a:xfrm>
            <a:off x="8641080" y="3749040"/>
            <a:ext cx="274320" cy="548640"/>
          </a:xfrm>
          <a:prstGeom prst="can">
            <a:avLst/>
          </a:prstGeom>
          <a:solidFill>
            <a:srgbClr val="3F3F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0" y="2560320"/>
            <a:ext cx="2377440" cy="292608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2743200"/>
            <a:ext cx="2103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  <a:latin typeface="Segoe UI"/>
              </a:defRPr>
            </a:pPr>
            <a:r>
              <a:t>Phase 04</a:t>
            </a:r>
          </a:p>
          <a:p>
            <a:pPr>
              <a:spcBef>
                <a:spcPts val="1000"/>
              </a:spcBef>
              <a:defRPr sz="1400" b="1">
                <a:solidFill>
                  <a:srgbClr val="FFFFFF"/>
                </a:solidFill>
                <a:latin typeface="Segoe UI"/>
              </a:defRPr>
            </a:pPr>
            <a:r>
              <a:t>Contextual AI</a:t>
            </a:r>
          </a:p>
          <a:p>
            <a:pPr>
              <a:spcBef>
                <a:spcPts val="1000"/>
              </a:spcBef>
              <a:defRPr sz="1200">
                <a:solidFill>
                  <a:srgbClr val="A1A1AA"/>
                </a:solidFill>
                <a:latin typeface="Segoe UI"/>
              </a:defRPr>
            </a:pPr>
            <a:r>
              <a:t>Chatbot reads active step to provide localized legal and fee support.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Segoe UI"/>
              </a:defRPr>
            </a:pPr>
            <a:r>
              <a:t>6. Team Details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0B981"/>
                </a:solidFill>
                <a:latin typeface="Segoe UI"/>
              </a:defRPr>
            </a:pPr>
            <a:r>
              <a:t>Sautik Samui</a:t>
            </a:r>
          </a:p>
          <a:p>
            <a:pPr>
              <a:spcBef>
                <a:spcPts val="5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Lead System Architect &amp; AI Integration Engineer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Engineered the Flask REST backend API, implementing dynamic schema handling and fallback routes.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Integrated Google Gemini Developer APIs, creating a single-roundtrip prompt structure for fast reasoning.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Built the cascading DAG dependency resolver and database model schema updates.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18181B"/>
          </a:solidFill>
          <a:ln>
            <a:solidFill>
              <a:srgbClr val="3F3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Segoe UI"/>
              </a:defRPr>
            </a:pPr>
            <a:r>
              <a:t>UI/UX &amp; Product Design</a:t>
            </a:r>
          </a:p>
          <a:p>
            <a:pPr>
              <a:spcBef>
                <a:spcPts val="500"/>
              </a:spcBef>
              <a:defRPr sz="1600" b="1">
                <a:solidFill>
                  <a:srgbClr val="A1A1AA"/>
                </a:solidFill>
                <a:latin typeface="Segoe UI"/>
              </a:defRPr>
            </a:pPr>
            <a:r>
              <a:t>Frontend Developer &amp; Product Lead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Designed the high-fidelity dark-mode interface using Tailwind CSS and Framer Motion micro-animations.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Implemented local session persistence and loading spinners to optimize the goal submit flow.</a:t>
            </a:r>
          </a:p>
          <a:p>
            <a:pPr>
              <a:spcBef>
                <a:spcPts val="1000"/>
              </a:spcBef>
              <a:defRPr sz="1300">
                <a:solidFill>
                  <a:srgbClr val="A1A1AA"/>
                </a:solidFill>
                <a:latin typeface="Segoe UI"/>
              </a:defRPr>
            </a:pPr>
            <a:r>
              <a:t>• Ensured responsive layouts and mobile timeline viewport scaling.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